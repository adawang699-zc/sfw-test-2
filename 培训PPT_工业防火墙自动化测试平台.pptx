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工业防火墙自动化测试平台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让测试变得简单高效</a:t>
            </a:r>
          </a:p>
        </p:txBody>
      </p:sp>
      <p:sp>
        <p:nvSpPr>
          <p:cNvPr id="5" name="Oval 4"/>
          <p:cNvSpPr/>
          <p:nvPr/>
        </p:nvSpPr>
        <p:spPr>
          <a:xfrm>
            <a:off x="10058400" y="457200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731520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1005840"/>
            <a:ext cx="457200" cy="4572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一个测试工程师的困境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732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不同测试环境切换电脑操作麻烦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57400"/>
            <a:ext cx="320040" cy="320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需要多个工具分散使用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97480"/>
            <a:ext cx="320040" cy="32004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工控协议测试复杂易出错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337560"/>
            <a:ext cx="320040" cy="32004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测试结果手工记录难追溯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我们带来了解决方案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560320" cy="20116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Web统一管理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浏览器操作</a:t>
            </a:r>
            <a:br/>
            <a:r>
              <a:t>无需切换设备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39" y="1463040"/>
            <a:ext cx="2560320" cy="201168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64592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2860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自动化测试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74320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一键执行</a:t>
            </a:r>
            <a:br/>
            <a:r>
              <a:t>自动记录结果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463040"/>
            <a:ext cx="2560320" cy="201168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19" y="164592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19" y="22860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工控协议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19" y="274320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30+协议支持</a:t>
            </a:r>
            <a:br/>
            <a:r>
              <a:t>覆盖主流场景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1463040"/>
            <a:ext cx="2560320" cy="201168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164592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2860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并发协作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274320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3组独立环境</a:t>
            </a:r>
            <a:br/>
            <a:r>
              <a:t>互不干扰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实际效益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配置时间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050"/>
                </a:solidFill>
              </a:defRPr>
            </a:pPr>
            <a:r>
              <a:t>10分钟 -&gt; 7分钟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测试效率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050"/>
                </a:solidFill>
              </a:defRPr>
            </a:pPr>
            <a:r>
              <a:t>提升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错误率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050"/>
                </a:solidFill>
              </a:defRPr>
            </a:pPr>
            <a:r>
              <a:t>降低 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培训议程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732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项目概述 - 这是什么系统？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57400"/>
            <a:ext cx="320040" cy="320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核心功能 - 能做什么测试？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97480"/>
            <a:ext cx="320040" cy="32004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操作演示 - 怎么使用系统？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337560"/>
            <a:ext cx="320040" cy="32004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快速上手 - 如何开始使用？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t>核心功能亮点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统一管理，一站式操作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548640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改进前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• 不同测试环境切换电脑操作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• 需要多个工具分散使用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• 工具功能有限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改进后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• 全部在Web界面操作，无需切换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• 所有工具集成在Agent上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• 新开发多种测试工具，能力增强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B050"/>
                </a:solidFill>
              </a:defRPr>
            </a:pPr>
            <a:r>
              <a:t>✓ 集成工具：报文发送、端口扫描、协议测试、日志接收    ✓ 新增工具：DDoS压力测试、工控协议模拟、批量验证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自动化测试，效率倍增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2286000"/>
            <a:ext cx="1371600" cy="1371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配置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2834640"/>
            <a:ext cx="731520" cy="3657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2286000"/>
            <a:ext cx="1371600" cy="1371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743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一键执行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03520" y="2834640"/>
            <a:ext cx="731520" cy="3657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0" y="2286000"/>
            <a:ext cx="1371600" cy="13716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743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自动记录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72400" y="2834640"/>
            <a:ext cx="731520" cy="3657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0" y="2286000"/>
            <a:ext cx="1371600" cy="1371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743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生成报告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30+工控协议支持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1828800" cy="18288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Modbus</a:t>
            </a:r>
          </a:p>
        </p:txBody>
      </p:sp>
      <p:sp>
        <p:nvSpPr>
          <p:cNvPr id="6" name="Oval 5"/>
          <p:cNvSpPr/>
          <p:nvPr/>
        </p:nvSpPr>
        <p:spPr>
          <a:xfrm>
            <a:off x="3474720" y="1645920"/>
            <a:ext cx="1828800" cy="1828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S7</a:t>
            </a:r>
          </a:p>
        </p:txBody>
      </p:sp>
      <p:sp>
        <p:nvSpPr>
          <p:cNvPr id="8" name="Oval 7"/>
          <p:cNvSpPr/>
          <p:nvPr/>
        </p:nvSpPr>
        <p:spPr>
          <a:xfrm>
            <a:off x="6035040" y="1645920"/>
            <a:ext cx="1828800" cy="18288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GOOSE</a:t>
            </a:r>
          </a:p>
        </p:txBody>
      </p:sp>
      <p:sp>
        <p:nvSpPr>
          <p:cNvPr id="10" name="Oval 9"/>
          <p:cNvSpPr/>
          <p:nvPr/>
        </p:nvSpPr>
        <p:spPr>
          <a:xfrm>
            <a:off x="8595359" y="1645920"/>
            <a:ext cx="1828800" cy="18288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59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645920" cy="54864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EtherCAT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840480"/>
            <a:ext cx="1645920" cy="54864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3931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PROFINET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840480"/>
            <a:ext cx="1645920" cy="54864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931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DNP3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1645920" cy="54864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931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BACnet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40480"/>
            <a:ext cx="1645920" cy="54864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931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OPC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3840480"/>
            <a:ext cx="1645920" cy="54864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3931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IEC104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多组并发，互不干扰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2743200" cy="27432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A组</a:t>
            </a:r>
            <a:br/>
            <a:r>
              <a:t>独立环境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2743200" cy="27432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B组</a:t>
            </a:r>
            <a:br/>
            <a:r>
              <a:t>独立环境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2743200" cy="27432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926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C组</a:t>
            </a:r>
            <a:br/>
            <a:r>
              <a:t>独立环境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实际应用案例：某防火墙功能验证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改进前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改进后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测试时间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8小时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6小时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人力投入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4人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问题发现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20个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25个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用户怎么说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9144000" cy="1097280"/>
          </a:xfrm>
          <a:prstGeom prst="roundRect">
            <a:avLst/>
          </a:prstGeom>
          <a:solidFill>
            <a:srgbClr val="F2F2F2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8778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33333"/>
                </a:solidFill>
              </a:defRPr>
            </a:pPr>
            <a:r>
              <a:t>"界面直观，上手很快" - 测试工程师A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74720"/>
            <a:ext cx="9144000" cy="1097280"/>
          </a:xfrm>
          <a:prstGeom prst="roundRect">
            <a:avLst/>
          </a:prstGeom>
          <a:solidFill>
            <a:srgbClr val="F2F2F2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8778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33333"/>
                </a:solidFill>
              </a:defRPr>
            </a:pPr>
            <a:r>
              <a:t>"工控协议测试方便多了" - 测试工程师B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简单明了的架构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229600" cy="10972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9202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操作者: 浏览器访问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69280" y="2834640"/>
            <a:ext cx="548640" cy="45720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3291840"/>
            <a:ext cx="8229600" cy="109728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5661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管理平台: Django服务器</a:t>
            </a:r>
          </a:p>
        </p:txBody>
      </p:sp>
      <p:sp>
        <p:nvSpPr>
          <p:cNvPr id="9" name="Down Arrow 8"/>
          <p:cNvSpPr/>
          <p:nvPr/>
        </p:nvSpPr>
        <p:spPr>
          <a:xfrm>
            <a:off x="5669280" y="4480560"/>
            <a:ext cx="548640" cy="45720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4937760"/>
            <a:ext cx="8229600" cy="109728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5212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测试设备: Agent程序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t>核心操作演示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从部署到测试，5步搞定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8800"/>
            <a:ext cx="1828800" cy="18288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步骤1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配置环境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5分钟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2560320"/>
            <a:ext cx="36576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0" y="1828800"/>
            <a:ext cx="1828800" cy="1828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步骤2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60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部署Agent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2分钟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63440" y="2560320"/>
            <a:ext cx="36576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0" y="1828800"/>
            <a:ext cx="1828800" cy="18288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步骤3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560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执行测试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按需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49440" y="2560320"/>
            <a:ext cx="36576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1828800"/>
            <a:ext cx="1828800" cy="18288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步骤4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560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验证结果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实时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2560320"/>
            <a:ext cx="36576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0" y="1828800"/>
            <a:ext cx="1828800" cy="18288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步骤5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560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查看报告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自动生成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步骤1：配置测试环境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400800" cy="41148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70C0"/>
                </a:solidFill>
              </a:defRPr>
            </a:pPr>
            <a:r>
              <a:t>[截图: 测试环境列表页面]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050"/>
                </a:solidFill>
              </a:defRPr>
            </a:pPr>
            <a:r>
              <a:t>✓ 设备名称</a:t>
            </a:r>
          </a:p>
          <a:p>
            <a:pPr>
              <a:defRPr sz="1800">
                <a:solidFill>
                  <a:srgbClr val="00B050"/>
                </a:solidFill>
              </a:defRPr>
            </a:pPr>
            <a:r>
              <a:t>✓ IP地址</a:t>
            </a:r>
          </a:p>
          <a:p>
            <a:pPr>
              <a:defRPr sz="1800">
                <a:solidFill>
                  <a:srgbClr val="00B050"/>
                </a:solidFill>
              </a:defRPr>
            </a:pPr>
            <a:r>
              <a:t>✓ SSH账号</a:t>
            </a:r>
          </a:p>
          <a:p>
            <a:pPr>
              <a:defRPr sz="1800">
                <a:solidFill>
                  <a:srgbClr val="00B050"/>
                </a:solidFill>
              </a:defRPr>
            </a:pPr>
            <a:r>
              <a:t>✓ 系统类型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0292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08080"/>
                </a:solidFill>
              </a:defRPr>
            </a:pPr>
            <a:r>
              <a:t>首次配置后，后续无需重复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步骤2：一键部署Agent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400800" cy="41148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70C0"/>
                </a:solidFill>
              </a:defRPr>
            </a:pPr>
            <a:r>
              <a:t>[截图: Agent同步页面]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050"/>
                </a:solidFill>
              </a:defRPr>
            </a:pPr>
            <a:r>
              <a:t>✓ 同步按钮</a:t>
            </a:r>
          </a:p>
          <a:p>
            <a:pPr>
              <a:defRPr sz="1800">
                <a:solidFill>
                  <a:srgbClr val="00B050"/>
                </a:solidFill>
              </a:defRPr>
            </a:pPr>
            <a:r>
              <a:t>✓ 状态指示</a:t>
            </a:r>
          </a:p>
          <a:p>
            <a:pPr>
              <a:defRPr sz="1800">
                <a:solidFill>
                  <a:srgbClr val="00B050"/>
                </a:solidFill>
              </a:defRPr>
            </a:pPr>
            <a:r>
              <a:t>✓ 启动按钮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0292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08080"/>
                </a:solidFill>
              </a:defRPr>
            </a:pPr>
            <a:r>
              <a:t>一键部署，自动上传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步骤3：发送测试报文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400800" cy="41148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70C0"/>
                </a:solidFill>
              </a:defRPr>
            </a:pPr>
            <a:r>
              <a:t>[截图: 报文发送配置界面]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050"/>
                </a:solidFill>
              </a:defRPr>
            </a:pPr>
            <a:r>
              <a:t>✓ Agent选择</a:t>
            </a:r>
          </a:p>
          <a:p>
            <a:pPr>
              <a:defRPr sz="1800">
                <a:solidFill>
                  <a:srgbClr val="00B050"/>
                </a:solidFill>
              </a:defRPr>
            </a:pPr>
            <a:r>
              <a:t>✓ 协议选择</a:t>
            </a:r>
          </a:p>
          <a:p>
            <a:pPr>
              <a:defRPr sz="1800">
                <a:solidFill>
                  <a:srgbClr val="00B050"/>
                </a:solidFill>
              </a:defRPr>
            </a:pPr>
            <a:r>
              <a:t>✓ 参数配置</a:t>
            </a:r>
          </a:p>
          <a:p>
            <a:pPr>
              <a:defRPr sz="1800">
                <a:solidFill>
                  <a:srgbClr val="00B050"/>
                </a:solidFill>
              </a:defRPr>
            </a:pPr>
            <a:r>
              <a:t>✓ 发送按钮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工控协议测试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41148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70C0"/>
                </a:solidFill>
              </a:defRPr>
            </a:pPr>
            <a:r>
              <a:t>[截图: Modbus客户端配置]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154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70C0"/>
                </a:solidFill>
              </a:defRPr>
            </a:pPr>
            <a:r>
              <a:t>[截图: Modbus服务器状态]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完整案例：DDoS压力测试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2103120"/>
          </a:xfrm>
          <a:prstGeom prst="roundRect">
            <a:avLst/>
          </a:prstGeom>
          <a:solidFill>
            <a:srgbClr val="F2F2F2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663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1. 配置攻击参数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协议、端口、次数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029200" cy="2103120"/>
          </a:xfrm>
          <a:prstGeom prst="roundRect">
            <a:avLst/>
          </a:prstGeom>
          <a:solidFill>
            <a:srgbClr val="F2F2F2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828800"/>
            <a:ext cx="4663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2. 点击开始发送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实时发送报文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029200" cy="2103120"/>
          </a:xfrm>
          <a:prstGeom prst="roundRect">
            <a:avLst/>
          </a:prstGeom>
          <a:solidFill>
            <a:srgbClr val="F2F2F2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4663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3. 查看发送统计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速率、总数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840480"/>
            <a:ext cx="5029200" cy="2103120"/>
          </a:xfrm>
          <a:prstGeom prst="roundRect">
            <a:avLst/>
          </a:prstGeom>
          <a:solidFill>
            <a:srgbClr val="F2F2F2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4297680"/>
            <a:ext cx="4663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4. 查看防火墙告警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Syslog日志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00000"/>
                </a:solidFill>
              </a:defRPr>
            </a:pPr>
            <a:r>
              <a:t>[WARNING] DDoS测试仅限授权测试环境，禁止对生产系统测试！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步骤4-5：验证与查看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400800" cy="41148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70C0"/>
                </a:solidFill>
              </a:defRPr>
            </a:pPr>
            <a:r>
              <a:t>[截图: Syslog日志接收页面]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050"/>
                </a:solidFill>
              </a:defRPr>
            </a:pPr>
            <a:r>
              <a:t>✓ 日志过滤</a:t>
            </a:r>
          </a:p>
          <a:p>
            <a:pPr>
              <a:defRPr sz="1800">
                <a:solidFill>
                  <a:srgbClr val="00B050"/>
                </a:solidFill>
              </a:defRPr>
            </a:pPr>
            <a:r>
              <a:t>✓ 关键词搜索</a:t>
            </a:r>
          </a:p>
          <a:p>
            <a:pPr>
              <a:defRPr sz="1800">
                <a:solidFill>
                  <a:srgbClr val="00B050"/>
                </a:solidFill>
              </a:defRPr>
            </a:pPr>
            <a:r>
              <a:t>✓ 时间筛选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B050"/>
                </a:solidFill>
              </a:defRPr>
            </a:pPr>
            <a:r>
              <a:t>所有测试过程自动记录，可追溯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t>快速上手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使用门槛很低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2743200"/>
          </a:xfrm>
          <a:prstGeom prst="roundRect">
            <a:avLst/>
          </a:prstGeom>
          <a:solidFill>
            <a:srgbClr val="F2F2F2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0C0"/>
                </a:solidFill>
              </a:defRPr>
            </a:pPr>
            <a:r>
              <a:t>浏览器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Chrome浏览器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兼容性最佳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560320" cy="2743200"/>
          </a:xfrm>
          <a:prstGeom prst="roundRect">
            <a:avLst/>
          </a:prstGeom>
          <a:solidFill>
            <a:srgbClr val="F2F2F2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0C0"/>
                </a:solidFill>
              </a:defRPr>
            </a:pPr>
            <a:r>
              <a:t>权限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测试设备SSH账号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832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用于Agent部署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560320" cy="2743200"/>
          </a:xfrm>
          <a:prstGeom prst="roundRect">
            <a:avLst/>
          </a:prstGeom>
          <a:solidFill>
            <a:srgbClr val="F2F2F2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0C0"/>
                </a:solidFill>
              </a:defRPr>
            </a:pPr>
            <a:r>
              <a:t>测试设备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Windows 7+ 或 Linux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832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Agent运行环境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645920"/>
            <a:ext cx="2560320" cy="2743200"/>
          </a:xfrm>
          <a:prstGeom prst="roundRect">
            <a:avLst/>
          </a:prstGeom>
          <a:solidFill>
            <a:srgbClr val="F2F2F2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0C0"/>
                </a:solidFill>
              </a:defRPr>
            </a:pPr>
            <a:r>
              <a:t>学习成本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约30分钟熟悉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3832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操作简单直观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B050"/>
                </a:solidFill>
              </a:defRPr>
            </a:pPr>
            <a:r>
              <a:t>无需安装客户端，打开浏览器即可使用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开始你的第一次测试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获取系统访问账号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03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联系管理员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完成首次环境配置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参考操作手册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尝试第一个测试任务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97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建议从报文发送开始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937760"/>
            <a:ext cx="548640" cy="54864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37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加入技术支持群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394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遇到问题随时问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如有疑问，欢迎随时提问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5029200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0" y="5029200"/>
            <a:ext cx="548640" cy="54864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5029200"/>
            <a:ext cx="548640" cy="54864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0" y="5029200"/>
            <a:ext cx="548640" cy="54864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