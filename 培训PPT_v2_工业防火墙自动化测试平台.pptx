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2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改进前</c:v>
                </c:pt>
              </c:strCache>
            </c:strRef>
          </c:tx>
          <c:spPr>
            <a:solidFill>
              <a:srgbClr val="99999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配置时间</c:v>
                  </c:pt>
                  <c:pt idx="1">
                    <c:v>错误率</c:v>
                  </c:pt>
                  <c:pt idx="2">
                    <c:v>工作强度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</c:v>
                </c:pt>
                <c:pt idx="1">
                  <c:v>5</c:v>
                </c:pt>
                <c:pt idx="2">
                  <c:v>10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改进后</c:v>
                </c:pt>
              </c:strCache>
            </c:strRef>
          </c:tx>
          <c:spPr>
            <a:solidFill>
              <a:srgbClr val="00B05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配置时间</c:v>
                  </c:pt>
                  <c:pt idx="1">
                    <c:v>错误率</c:v>
                  </c:pt>
                  <c:pt idx="2">
                    <c:v>工作强度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7</c:v>
                </c:pt>
                <c:pt idx="1">
                  <c:v>7</c:v>
                </c:pt>
                <c:pt idx="2">
                  <c:v>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5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改进前</c:v>
                </c:pt>
              </c:strCache>
            </c:strRef>
          </c:tx>
          <c:spPr>
            <a:solidFill>
              <a:srgbClr val="99999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测试时间</c:v>
                  </c:pt>
                  <c:pt idx="1">
                    <c:v>人力投入</c:v>
                  </c:pt>
                  <c:pt idx="2">
                    <c:v>问题发现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</c:v>
                </c:pt>
                <c:pt idx="1">
                  <c:v>4</c:v>
                </c:pt>
                <c:pt idx="2">
                  <c:v>20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改进后</c:v>
                </c:pt>
              </c:strCache>
            </c:strRef>
          </c:tx>
          <c:spPr>
            <a:solidFill>
              <a:srgbClr val="00B05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测试时间</c:v>
                  </c:pt>
                  <c:pt idx="1">
                    <c:v>人力投入</c:v>
                  </c:pt>
                  <c:pt idx="2">
                    <c:v>问题发现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6</c:v>
                </c:pt>
                <c:pt idx="1">
                  <c:v>4</c:v>
                </c:pt>
                <c:pt idx="2">
                  <c:v>25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4754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</a:rPr>
              <a:t>工业防火墙自动化测试平台</a:t>
            </a:r>
            <a:endParaRPr lang="en-US" sz="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70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1371600" cy="1371600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457200"/>
            <a:ext cx="1371600" cy="1371600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457200" y="3657600"/>
            <a:ext cx="1371600" cy="1371600"/>
          </a:xfrm>
          <a:prstGeom prst="ellipse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772400" y="3657600"/>
            <a:ext cx="1371600" cy="1371600"/>
          </a:xfrm>
          <a:prstGeom prst="ellipse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3200400" y="45720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🛡️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工业防火墙自动化测试平台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让测试变得简单高效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457200" y="3200400"/>
            <a:ext cx="2011680" cy="731520"/>
          </a:xfrm>
          <a:prstGeom prst="roundRect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3375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🌐 Web统一管理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651760" y="3200400"/>
            <a:ext cx="2011680" cy="731520"/>
          </a:xfrm>
          <a:prstGeom prst="roundRect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0" y="33375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⚡ 自动化测试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846320" y="3200400"/>
            <a:ext cx="2011680" cy="731520"/>
          </a:xfrm>
          <a:prstGeom prst="roundRect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4937760" y="33375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🔌 30+工控协议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040880" y="3200400"/>
            <a:ext cx="2011680" cy="731520"/>
          </a:xfrm>
          <a:prstGeom prst="roundRect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7132320" y="33375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📊 结果可追溯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培训演示 | 2026年4月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70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一个测试工程师的困境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某测试工程师的一天...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31920" cy="1371600"/>
          </a:xfrm>
          <a:prstGeom prst="roundRect">
            <a:avLst/>
          </a:prstGeom>
          <a:solidFill>
            <a:srgbClr val="DDDDDD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508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💻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280160" y="15544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环境切换麻烦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10312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不同测试环境需要切换不同电脑操作，来回跑动浪费时间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371600"/>
            <a:ext cx="3931920" cy="1371600"/>
          </a:xfrm>
          <a:prstGeom prst="roundRect">
            <a:avLst/>
          </a:prstGeom>
          <a:solidFill>
            <a:srgbClr val="DDDDDD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1508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🔧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577840" y="15544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工具分散使用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37760" y="210312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报文发送、端口扫描、日志接收等工具分散，需要同时运行多个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926080"/>
            <a:ext cx="3931920" cy="1371600"/>
          </a:xfrm>
          <a:prstGeom prst="roundRect">
            <a:avLst/>
          </a:prstGeom>
          <a:solidFill>
            <a:srgbClr val="DDDDDD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063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⚡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280160" y="31089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协议测试复杂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" y="365760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工控协议种类多，配置复杂，容易出错，测试效率低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2926080"/>
            <a:ext cx="3931920" cy="1371600"/>
          </a:xfrm>
          <a:prstGeom prst="roundRect">
            <a:avLst/>
          </a:prstGeom>
          <a:solidFill>
            <a:srgbClr val="DDDDDD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3063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📝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577840" y="31089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记录难追溯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937760" y="365760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测试结果手工记录，容易遗漏，事后难以复盘追溯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4206240"/>
            <a:ext cx="8229600" cy="731520"/>
          </a:xfrm>
          <a:prstGeom prst="roundRect">
            <a:avLst/>
          </a:prstGeom>
          <a:solidFill>
            <a:srgbClr val="FF6600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29768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❓ 问题: 测试效率低、出错多、难追溯 → 影响项目进度和质量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70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我们带来了解决方案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371600" y="914400"/>
            <a:ext cx="6400800" cy="1097280"/>
          </a:xfrm>
          <a:prstGeom prst="roundRect">
            <a:avLst/>
          </a:prstGeom>
          <a:solidFill>
            <a:srgbClr val="0070C0"/>
          </a:solidFill>
          <a:ln/>
        </p:spPr>
      </p:sp>
      <p:sp>
        <p:nvSpPr>
          <p:cNvPr id="4" name="Text 2"/>
          <p:cNvSpPr/>
          <p:nvPr/>
        </p:nvSpPr>
        <p:spPr>
          <a:xfrm>
            <a:off x="1371600" y="10515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工业防火墙自动化测试平台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71600" y="15544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一站式Web平台，集成测试工具，支持30+工控协议，自动化测试流程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1920240" cy="2103120"/>
          </a:xfrm>
          <a:prstGeom prst="roundRect">
            <a:avLst/>
          </a:prstGeom>
          <a:solidFill>
            <a:srgbClr val="0070C0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4688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🌐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48640" y="30175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统一管理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34747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一个Web界面，告别环境切换烦恼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397764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一站式 | 无需切换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606040" y="2286000"/>
            <a:ext cx="1920240" cy="2103120"/>
          </a:xfrm>
          <a:prstGeom prst="roundRect">
            <a:avLst/>
          </a:prstGeom>
          <a:solidFill>
            <a:srgbClr val="00B050"/>
          </a:solidFill>
          <a:ln/>
        </p:spPr>
      </p:sp>
      <p:sp>
        <p:nvSpPr>
          <p:cNvPr id="12" name="Text 10"/>
          <p:cNvSpPr/>
          <p:nvPr/>
        </p:nvSpPr>
        <p:spPr>
          <a:xfrm>
            <a:off x="2697480" y="24688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⚡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2697480" y="30175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自动化测试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697480" y="34747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配置→执行→记录→报告，一键完成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697480" y="397764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效率倍增 | 流程简化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2286000"/>
            <a:ext cx="1920240" cy="2103120"/>
          </a:xfrm>
          <a:prstGeom prst="roundRect">
            <a:avLst/>
          </a:prstGeom>
          <a:solidFill>
            <a:srgbClr val="FF6600"/>
          </a:solidFill>
          <a:ln/>
        </p:spPr>
      </p:sp>
      <p:sp>
        <p:nvSpPr>
          <p:cNvPr id="17" name="Text 15"/>
          <p:cNvSpPr/>
          <p:nvPr/>
        </p:nvSpPr>
        <p:spPr>
          <a:xfrm>
            <a:off x="4846320" y="24688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🔌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4846320" y="30175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工控协议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846320" y="34747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30+工控协议支持，覆盖主流场景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46320" y="397764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Modbus | S7 | GOOSE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903720" y="2286000"/>
            <a:ext cx="1920240" cy="2103120"/>
          </a:xfrm>
          <a:prstGeom prst="roundRect">
            <a:avLst/>
          </a:prstGeom>
          <a:solidFill>
            <a:srgbClr val="7030A0"/>
          </a:solidFill>
          <a:ln/>
        </p:spPr>
      </p:sp>
      <p:sp>
        <p:nvSpPr>
          <p:cNvPr id="22" name="Text 20"/>
          <p:cNvSpPr/>
          <p:nvPr/>
        </p:nvSpPr>
        <p:spPr>
          <a:xfrm>
            <a:off x="6995160" y="24688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📊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6995160" y="30175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结果追溯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995160" y="34747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测试过程自动记录，可复盘验证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995160" y="397764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自动记录 | 可追溯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B0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目标: 提升测试效率30%，降低错误率20%，让测试变得简单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70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实际效益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使用前后对比数据（示例）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280160"/>
          <a:ext cx="50292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1148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单位: 分钟 | % | 相对值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669280" y="1280160"/>
            <a:ext cx="3474720" cy="914400"/>
          </a:xfrm>
          <a:prstGeom prst="roundRect">
            <a:avLst/>
          </a:prstGeom>
          <a:solidFill>
            <a:srgbClr val="0070C0"/>
          </a:solidFill>
          <a:ln/>
        </p:spPr>
      </p:sp>
      <p:sp>
        <p:nvSpPr>
          <p:cNvPr id="7" name="Text 4"/>
          <p:cNvSpPr/>
          <p:nvPr/>
        </p:nvSpPr>
        <p:spPr>
          <a:xfrm>
            <a:off x="5852160" y="13716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配置时间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852160" y="16916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10分钟 → 7分钟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863840" y="150876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-30%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5669280" y="2377440"/>
            <a:ext cx="3474720" cy="914400"/>
          </a:xfrm>
          <a:prstGeom prst="roundRect">
            <a:avLst/>
          </a:prstGeom>
          <a:solidFill>
            <a:srgbClr val="00B050"/>
          </a:solidFill>
          <a:ln/>
        </p:spPr>
      </p:sp>
      <p:sp>
        <p:nvSpPr>
          <p:cNvPr id="11" name="Text 8"/>
          <p:cNvSpPr/>
          <p:nvPr/>
        </p:nvSpPr>
        <p:spPr>
          <a:xfrm>
            <a:off x="5852160" y="2468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测试效率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852160" y="27889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基准 → 提升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863840" y="260604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+30%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5669280" y="3474720"/>
            <a:ext cx="3474720" cy="914400"/>
          </a:xfrm>
          <a:prstGeom prst="roundRect">
            <a:avLst/>
          </a:prstGeom>
          <a:solidFill>
            <a:srgbClr val="FF6600"/>
          </a:solidFill>
          <a:ln/>
        </p:spPr>
      </p:sp>
      <p:sp>
        <p:nvSpPr>
          <p:cNvPr id="15" name="Text 12"/>
          <p:cNvSpPr/>
          <p:nvPr/>
        </p:nvSpPr>
        <p:spPr>
          <a:xfrm>
            <a:off x="5852160" y="35661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错误率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852160" y="38862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10% → 8%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7863840" y="37033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-20%</a:t>
            </a:r>
            <a:endParaRPr lang="en-US" sz="2000" dirty="0"/>
          </a:p>
        </p:txBody>
      </p:sp>
      <p:sp>
        <p:nvSpPr>
          <p:cNvPr id="18" name="Shape 15"/>
          <p:cNvSpPr/>
          <p:nvPr/>
        </p:nvSpPr>
        <p:spPr>
          <a:xfrm>
            <a:off x="5669280" y="4206240"/>
            <a:ext cx="3474720" cy="731520"/>
          </a:xfrm>
          <a:prstGeom prst="roundRect">
            <a:avLst/>
          </a:prstGeom>
          <a:solidFill>
            <a:srgbClr val="7030A0"/>
          </a:solidFill>
          <a:ln/>
        </p:spPr>
      </p:sp>
      <p:sp>
        <p:nvSpPr>
          <p:cNvPr id="19" name="Text 16"/>
          <p:cNvSpPr/>
          <p:nvPr/>
        </p:nvSpPr>
        <p:spPr>
          <a:xfrm>
            <a:off x="5852160" y="429768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效果: 省时、省力、更准确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70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今天你将学到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培训时长: 约35分钟 (含答疑)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920240" cy="2560320"/>
          </a:xfrm>
          <a:prstGeom prst="roundRect">
            <a:avLst/>
          </a:prstGeom>
          <a:solidFill>
            <a:srgbClr val="0070C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087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20116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开场部分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246888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痛点故事、解决方案、效益数据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34747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5分钟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606040" y="1371600"/>
            <a:ext cx="1920240" cy="2560320"/>
          </a:xfrm>
          <a:prstGeom prst="roundRect">
            <a:avLst/>
          </a:prstGeom>
          <a:solidFill>
            <a:srgbClr val="00B050"/>
          </a:solidFill>
          <a:ln/>
        </p:spPr>
      </p:sp>
      <p:sp>
        <p:nvSpPr>
          <p:cNvPr id="10" name="Text 8"/>
          <p:cNvSpPr/>
          <p:nvPr/>
        </p:nvSpPr>
        <p:spPr>
          <a:xfrm>
            <a:off x="2697480" y="15087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697480" y="20116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697480" y="246888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统一管理、自动化、工控协议、并发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697480" y="34747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10分钟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754880" y="1371600"/>
            <a:ext cx="1920240" cy="2560320"/>
          </a:xfrm>
          <a:prstGeom prst="roundRect">
            <a:avLst/>
          </a:prstGeom>
          <a:solidFill>
            <a:srgbClr val="FF6600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15087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846320" y="20116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操作演示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846320" y="246888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环境配置、Agent部署、测试执行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46320" y="34747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15分钟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903720" y="1371600"/>
            <a:ext cx="1920240" cy="2560320"/>
          </a:xfrm>
          <a:prstGeom prst="roundRect">
            <a:avLst/>
          </a:prstGeom>
          <a:solidFill>
            <a:srgbClr val="7030A0"/>
          </a:solidFill>
          <a:ln/>
        </p:spPr>
      </p:sp>
      <p:sp>
        <p:nvSpPr>
          <p:cNvPr id="20" name="Text 18"/>
          <p:cNvSpPr/>
          <p:nvPr/>
        </p:nvSpPr>
        <p:spPr>
          <a:xfrm>
            <a:off x="6995160" y="15087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995160" y="20116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快速上手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995160" y="246888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使用门槛、下一步行动、答疑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995160" y="34747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5分钟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📌 目标: 了解系统价值 → 学会基本操作 → 能够独立使用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B0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1371600" cy="1371600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457200"/>
            <a:ext cx="1371600" cy="1371600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457200" y="3657600"/>
            <a:ext cx="1371600" cy="1371600"/>
          </a:xfrm>
          <a:prstGeom prst="ellipse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772400" y="3657600"/>
            <a:ext cx="1371600" cy="1371600"/>
          </a:xfrm>
          <a:prstGeom prst="ellipse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核心功能亮点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3657600" y="73152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🎯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914400" y="32004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统一管理，一站式操作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自动化测试，效率倍增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30+工控协议支持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70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统一管理，一站式操作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核心价值: 一个Web界面搞定所有测试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31920" cy="2743200"/>
          </a:xfrm>
          <a:prstGeom prst="round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63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改进前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3657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❌ 不同测试环境切换电脑操作麻烦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❌ 需要多个测试工具分散使用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❌ 工具功能有限，无法满足需求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❌ 测试结果手工记录难追溯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1371600"/>
            <a:ext cx="3931920" cy="2743200"/>
          </a:xfrm>
          <a:prstGeom prst="roundRect">
            <a:avLst/>
          </a:prstGeom>
          <a:solidFill>
            <a:srgbClr val="00B050"/>
          </a:solidFill>
          <a:ln/>
        </p:spPr>
      </p:sp>
      <p:sp>
        <p:nvSpPr>
          <p:cNvPr id="8" name="Text 6"/>
          <p:cNvSpPr/>
          <p:nvPr/>
        </p:nvSpPr>
        <p:spPr>
          <a:xfrm>
            <a:off x="4937760" y="1463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改进后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937760" y="1920240"/>
            <a:ext cx="3657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全部在Web界面操作，无需切换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所有工具集成在Agent上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新开发多种测试工具，能力增强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测试结果自动记录，可追溯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4297680"/>
            <a:ext cx="8229600" cy="640080"/>
          </a:xfrm>
          <a:prstGeom prst="roundRect">
            <a:avLst/>
          </a:prstGeom>
          <a:solidFill>
            <a:srgbClr val="0070C0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43891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集成工具: 报文发送 | 端口扫描 | 协议测试 | 日志接收 | DDoS压力测试 | 工控协议模拟 | 批量验证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70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自动化测试，效率倍增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简化测试流程，从配置到报告一键完成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1554480" cy="2011680"/>
          </a:xfrm>
          <a:prstGeom prst="roundRect">
            <a:avLst/>
          </a:prstGeom>
          <a:solidFill>
            <a:srgbClr val="0070C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544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20116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配置环境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46888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设置测试设备参数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31089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5分钟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011680" y="2194560"/>
            <a:ext cx="274320" cy="274320"/>
          </a:xfrm>
          <a:prstGeom prst="rightArrow">
            <a:avLst/>
          </a:prstGeom>
          <a:solidFill>
            <a:srgbClr val="CCCCCC"/>
          </a:solidFill>
          <a:ln/>
        </p:spPr>
      </p:sp>
      <p:sp>
        <p:nvSpPr>
          <p:cNvPr id="10" name="Shape 8"/>
          <p:cNvSpPr/>
          <p:nvPr/>
        </p:nvSpPr>
        <p:spPr>
          <a:xfrm>
            <a:off x="2286000" y="1463040"/>
            <a:ext cx="1554480" cy="2011680"/>
          </a:xfrm>
          <a:prstGeom prst="roundRect">
            <a:avLst/>
          </a:prstGeom>
          <a:solidFill>
            <a:srgbClr val="008080"/>
          </a:solidFill>
          <a:ln/>
        </p:spPr>
      </p:sp>
      <p:sp>
        <p:nvSpPr>
          <p:cNvPr id="11" name="Text 9"/>
          <p:cNvSpPr/>
          <p:nvPr/>
        </p:nvSpPr>
        <p:spPr>
          <a:xfrm>
            <a:off x="2377440" y="15544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377440" y="20116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部署Agent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377440" y="246888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一键同步到测试设备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377440" y="31089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2分钟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840480" y="2194560"/>
            <a:ext cx="274320" cy="274320"/>
          </a:xfrm>
          <a:prstGeom prst="rightArrow">
            <a:avLst/>
          </a:prstGeom>
          <a:solidFill>
            <a:srgbClr val="CCCCCC"/>
          </a:solidFill>
          <a:ln/>
        </p:spPr>
      </p:sp>
      <p:sp>
        <p:nvSpPr>
          <p:cNvPr id="16" name="Shape 14"/>
          <p:cNvSpPr/>
          <p:nvPr/>
        </p:nvSpPr>
        <p:spPr>
          <a:xfrm>
            <a:off x="4114800" y="1463040"/>
            <a:ext cx="1554480" cy="2011680"/>
          </a:xfrm>
          <a:prstGeom prst="roundRect">
            <a:avLst/>
          </a:prstGeom>
          <a:solidFill>
            <a:srgbClr val="FF6600"/>
          </a:solidFill>
          <a:ln/>
        </p:spPr>
      </p:sp>
      <p:sp>
        <p:nvSpPr>
          <p:cNvPr id="17" name="Text 15"/>
          <p:cNvSpPr/>
          <p:nvPr/>
        </p:nvSpPr>
        <p:spPr>
          <a:xfrm>
            <a:off x="4206240" y="15544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206240" y="20116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执行测试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206240" y="246888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选择测试类型并运行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206240" y="31089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按需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669280" y="2194560"/>
            <a:ext cx="274320" cy="274320"/>
          </a:xfrm>
          <a:prstGeom prst="rightArrow">
            <a:avLst/>
          </a:prstGeom>
          <a:solidFill>
            <a:srgbClr val="CCCCCC"/>
          </a:solidFill>
          <a:ln/>
        </p:spPr>
      </p:sp>
      <p:sp>
        <p:nvSpPr>
          <p:cNvPr id="22" name="Shape 20"/>
          <p:cNvSpPr/>
          <p:nvPr/>
        </p:nvSpPr>
        <p:spPr>
          <a:xfrm>
            <a:off x="5943600" y="1463040"/>
            <a:ext cx="1554480" cy="2011680"/>
          </a:xfrm>
          <a:prstGeom prst="roundRect">
            <a:avLst/>
          </a:prstGeom>
          <a:solidFill>
            <a:srgbClr val="7030A0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15544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6035040" y="20116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验证结果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035040" y="246888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实时查看测试输出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035040" y="31089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498080" y="2194560"/>
            <a:ext cx="274320" cy="274320"/>
          </a:xfrm>
          <a:prstGeom prst="rightArrow">
            <a:avLst/>
          </a:prstGeom>
          <a:solidFill>
            <a:srgbClr val="CCCCCC"/>
          </a:solidFill>
          <a:ln/>
        </p:spPr>
      </p:sp>
      <p:sp>
        <p:nvSpPr>
          <p:cNvPr id="28" name="Shape 26"/>
          <p:cNvSpPr/>
          <p:nvPr/>
        </p:nvSpPr>
        <p:spPr>
          <a:xfrm>
            <a:off x="7772400" y="1463040"/>
            <a:ext cx="1554480" cy="2011680"/>
          </a:xfrm>
          <a:prstGeom prst="roundRect">
            <a:avLst/>
          </a:prstGeom>
          <a:solidFill>
            <a:srgbClr val="00B050"/>
          </a:solidFill>
          <a:ln/>
        </p:spPr>
      </p:sp>
      <p:sp>
        <p:nvSpPr>
          <p:cNvPr id="29" name="Text 27"/>
          <p:cNvSpPr/>
          <p:nvPr/>
        </p:nvSpPr>
        <p:spPr>
          <a:xfrm>
            <a:off x="7863840" y="15544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7863840" y="20116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生成报告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863840" y="246888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自动汇总测试结果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863840" y="31089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66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所有测试过程自动记录，结果可追溯、可复盘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70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30+工控协议支持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858000" y="274320"/>
            <a:ext cx="1828800" cy="548640"/>
          </a:xfrm>
          <a:prstGeom prst="roundRect">
            <a:avLst/>
          </a:prstGeom>
          <a:solidFill>
            <a:srgbClr val="00B050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0" y="3200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30+ 协议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2011680" cy="731520"/>
          </a:xfrm>
          <a:prstGeom prst="roundRect">
            <a:avLst/>
          </a:prstGeom>
          <a:solidFill>
            <a:srgbClr val="0070C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887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🔌 Modbus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743200" y="1005840"/>
            <a:ext cx="2011680" cy="731520"/>
          </a:xfrm>
          <a:prstGeom prst="roundRect">
            <a:avLst/>
          </a:prstGeom>
          <a:solidFill>
            <a:srgbClr val="FF6600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0" y="11887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⚡ S7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029200" y="1005840"/>
            <a:ext cx="2011680" cy="731520"/>
          </a:xfrm>
          <a:prstGeom prst="roundRect">
            <a:avLst/>
          </a:prstGeom>
          <a:solidFill>
            <a:srgbClr val="7030A0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11887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📡 GOOSE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315200" y="1005840"/>
            <a:ext cx="2011680" cy="731520"/>
          </a:xfrm>
          <a:prstGeom prst="roundRect">
            <a:avLst/>
          </a:prstGeom>
          <a:solidFill>
            <a:srgbClr val="008080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0" y="11887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📊 SV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7200" y="1828800"/>
            <a:ext cx="1463040" cy="457200"/>
          </a:xfrm>
          <a:prstGeom prst="roundRect">
            <a:avLst/>
          </a:prstGeom>
          <a:solidFill>
            <a:srgbClr val="EEEEEE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19202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EtherCAT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103120" y="1828800"/>
            <a:ext cx="1463040" cy="457200"/>
          </a:xfrm>
          <a:prstGeom prst="roundRect">
            <a:avLst/>
          </a:prstGeom>
          <a:solidFill>
            <a:srgbClr val="DDDDDD"/>
          </a:solidFill>
          <a:ln/>
        </p:spPr>
      </p:sp>
      <p:sp>
        <p:nvSpPr>
          <p:cNvPr id="16" name="Text 14"/>
          <p:cNvSpPr/>
          <p:nvPr/>
        </p:nvSpPr>
        <p:spPr>
          <a:xfrm>
            <a:off x="2103120" y="19202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PROFINET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749040" y="1828800"/>
            <a:ext cx="1463040" cy="457200"/>
          </a:xfrm>
          <a:prstGeom prst="roundRect">
            <a:avLst/>
          </a:prstGeom>
          <a:solidFill>
            <a:srgbClr val="EEEEEE"/>
          </a:solidFill>
          <a:ln/>
        </p:spPr>
      </p:sp>
      <p:sp>
        <p:nvSpPr>
          <p:cNvPr id="18" name="Text 16"/>
          <p:cNvSpPr/>
          <p:nvPr/>
        </p:nvSpPr>
        <p:spPr>
          <a:xfrm>
            <a:off x="3749040" y="19202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DNP3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394960" y="1828800"/>
            <a:ext cx="1463040" cy="457200"/>
          </a:xfrm>
          <a:prstGeom prst="roundRect">
            <a:avLst/>
          </a:prstGeom>
          <a:solidFill>
            <a:srgbClr val="DDDDDD"/>
          </a:solidFill>
          <a:ln/>
        </p:spPr>
      </p:sp>
      <p:sp>
        <p:nvSpPr>
          <p:cNvPr id="20" name="Text 18"/>
          <p:cNvSpPr/>
          <p:nvPr/>
        </p:nvSpPr>
        <p:spPr>
          <a:xfrm>
            <a:off x="5394960" y="19202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BACnet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040880" y="1828800"/>
            <a:ext cx="1463040" cy="457200"/>
          </a:xfrm>
          <a:prstGeom prst="roundRect">
            <a:avLst/>
          </a:prstGeom>
          <a:solidFill>
            <a:srgbClr val="EEEEEE"/>
          </a:solidFill>
          <a:ln/>
        </p:spPr>
      </p:sp>
      <p:sp>
        <p:nvSpPr>
          <p:cNvPr id="22" name="Text 20"/>
          <p:cNvSpPr/>
          <p:nvPr/>
        </p:nvSpPr>
        <p:spPr>
          <a:xfrm>
            <a:off x="7040880" y="19202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OPC UA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686800" y="1828800"/>
            <a:ext cx="1463040" cy="457200"/>
          </a:xfrm>
          <a:prstGeom prst="roundRect">
            <a:avLst/>
          </a:prstGeom>
          <a:solidFill>
            <a:srgbClr val="DDDDDD"/>
          </a:solidFill>
          <a:ln/>
        </p:spPr>
      </p:sp>
      <p:sp>
        <p:nvSpPr>
          <p:cNvPr id="24" name="Text 22"/>
          <p:cNvSpPr/>
          <p:nvPr/>
        </p:nvSpPr>
        <p:spPr>
          <a:xfrm>
            <a:off x="8686800" y="19202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IEC104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0332720" y="1828800"/>
            <a:ext cx="1463040" cy="457200"/>
          </a:xfrm>
          <a:prstGeom prst="roundRect">
            <a:avLst/>
          </a:prstGeom>
          <a:solidFill>
            <a:srgbClr val="EEEEEE"/>
          </a:solidFill>
          <a:ln/>
        </p:spPr>
      </p:sp>
      <p:sp>
        <p:nvSpPr>
          <p:cNvPr id="26" name="Text 24"/>
          <p:cNvSpPr/>
          <p:nvPr/>
        </p:nvSpPr>
        <p:spPr>
          <a:xfrm>
            <a:off x="10332720" y="19202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CIP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2423160"/>
            <a:ext cx="1463040" cy="457200"/>
          </a:xfrm>
          <a:prstGeom prst="roundRect">
            <a:avLst/>
          </a:prstGeom>
          <a:solidFill>
            <a:srgbClr val="DDDDDD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25146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FINS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103120" y="2423160"/>
            <a:ext cx="1463040" cy="457200"/>
          </a:xfrm>
          <a:prstGeom prst="roundRect">
            <a:avLst/>
          </a:prstGeom>
          <a:solidFill>
            <a:srgbClr val="EEEEEE"/>
          </a:solidFill>
          <a:ln/>
        </p:spPr>
      </p:sp>
      <p:sp>
        <p:nvSpPr>
          <p:cNvPr id="30" name="Text 28"/>
          <p:cNvSpPr/>
          <p:nvPr/>
        </p:nvSpPr>
        <p:spPr>
          <a:xfrm>
            <a:off x="2103120" y="25146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HART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749040" y="2423160"/>
            <a:ext cx="1463040" cy="457200"/>
          </a:xfrm>
          <a:prstGeom prst="roundRect">
            <a:avLst/>
          </a:prstGeom>
          <a:solidFill>
            <a:srgbClr val="DDDDDD"/>
          </a:solidFill>
          <a:ln/>
        </p:spPr>
      </p:sp>
      <p:sp>
        <p:nvSpPr>
          <p:cNvPr id="32" name="Text 30"/>
          <p:cNvSpPr/>
          <p:nvPr/>
        </p:nvSpPr>
        <p:spPr>
          <a:xfrm>
            <a:off x="3749040" y="25146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LonWorks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394960" y="2423160"/>
            <a:ext cx="1463040" cy="457200"/>
          </a:xfrm>
          <a:prstGeom prst="roundRect">
            <a:avLst/>
          </a:prstGeom>
          <a:solidFill>
            <a:srgbClr val="EEEEEE"/>
          </a:solidFill>
          <a:ln/>
        </p:spPr>
      </p:sp>
      <p:sp>
        <p:nvSpPr>
          <p:cNvPr id="34" name="Text 32"/>
          <p:cNvSpPr/>
          <p:nvPr/>
        </p:nvSpPr>
        <p:spPr>
          <a:xfrm>
            <a:off x="5394960" y="25146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KNX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040880" y="2423160"/>
            <a:ext cx="1463040" cy="457200"/>
          </a:xfrm>
          <a:prstGeom prst="roundRect">
            <a:avLst/>
          </a:prstGeom>
          <a:solidFill>
            <a:srgbClr val="DDDDDD"/>
          </a:solidFill>
          <a:ln/>
        </p:spPr>
      </p:sp>
      <p:sp>
        <p:nvSpPr>
          <p:cNvPr id="36" name="Text 34"/>
          <p:cNvSpPr/>
          <p:nvPr/>
        </p:nvSpPr>
        <p:spPr>
          <a:xfrm>
            <a:off x="7040880" y="25146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Melsec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8686800" y="2423160"/>
            <a:ext cx="1463040" cy="457200"/>
          </a:xfrm>
          <a:prstGeom prst="roundRect">
            <a:avLst/>
          </a:prstGeom>
          <a:solidFill>
            <a:srgbClr val="EEEEEE"/>
          </a:solidFill>
          <a:ln/>
        </p:spPr>
      </p:sp>
      <p:sp>
        <p:nvSpPr>
          <p:cNvPr id="38" name="Text 36"/>
          <p:cNvSpPr/>
          <p:nvPr/>
        </p:nvSpPr>
        <p:spPr>
          <a:xfrm>
            <a:off x="8686800" y="25146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Profibus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10332720" y="2423160"/>
            <a:ext cx="1463040" cy="457200"/>
          </a:xfrm>
          <a:prstGeom prst="roundRect">
            <a:avLst/>
          </a:prstGeom>
          <a:solidFill>
            <a:srgbClr val="DDDDDD"/>
          </a:solidFill>
          <a:ln/>
        </p:spPr>
      </p:sp>
      <p:sp>
        <p:nvSpPr>
          <p:cNvPr id="40" name="Text 38"/>
          <p:cNvSpPr/>
          <p:nvPr/>
        </p:nvSpPr>
        <p:spPr>
          <a:xfrm>
            <a:off x="10332720" y="25146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CANopen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57200" y="3017520"/>
            <a:ext cx="1463040" cy="457200"/>
          </a:xfrm>
          <a:prstGeom prst="roundRect">
            <a:avLst/>
          </a:prstGeom>
          <a:solidFill>
            <a:srgbClr val="EEEEEE"/>
          </a:solidFill>
          <a:ln/>
        </p:spPr>
      </p:sp>
      <p:sp>
        <p:nvSpPr>
          <p:cNvPr id="42" name="Text 40"/>
          <p:cNvSpPr/>
          <p:nvPr/>
        </p:nvSpPr>
        <p:spPr>
          <a:xfrm>
            <a:off x="457200" y="31089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DeviceNet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2103120" y="3017520"/>
            <a:ext cx="1463040" cy="457200"/>
          </a:xfrm>
          <a:prstGeom prst="roundRect">
            <a:avLst/>
          </a:prstGeom>
          <a:solidFill>
            <a:srgbClr val="DDDDDD"/>
          </a:solidFill>
          <a:ln/>
        </p:spPr>
      </p:sp>
      <p:sp>
        <p:nvSpPr>
          <p:cNvPr id="44" name="Text 42"/>
          <p:cNvSpPr/>
          <p:nvPr/>
        </p:nvSpPr>
        <p:spPr>
          <a:xfrm>
            <a:off x="2103120" y="31089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CC-Link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3749040" y="3017520"/>
            <a:ext cx="1463040" cy="457200"/>
          </a:xfrm>
          <a:prstGeom prst="roundRect">
            <a:avLst/>
          </a:prstGeom>
          <a:solidFill>
            <a:srgbClr val="EEEEEE"/>
          </a:solidFill>
          <a:ln/>
        </p:spPr>
      </p:sp>
      <p:sp>
        <p:nvSpPr>
          <p:cNvPr id="46" name="Text 44"/>
          <p:cNvSpPr/>
          <p:nvPr/>
        </p:nvSpPr>
        <p:spPr>
          <a:xfrm>
            <a:off x="3749040" y="31089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AS-i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5394960" y="3017520"/>
            <a:ext cx="1463040" cy="457200"/>
          </a:xfrm>
          <a:prstGeom prst="roundRect">
            <a:avLst/>
          </a:prstGeom>
          <a:solidFill>
            <a:srgbClr val="DDDDDD"/>
          </a:solidFill>
          <a:ln/>
        </p:spPr>
      </p:sp>
      <p:sp>
        <p:nvSpPr>
          <p:cNvPr id="48" name="Text 46"/>
          <p:cNvSpPr/>
          <p:nvPr/>
        </p:nvSpPr>
        <p:spPr>
          <a:xfrm>
            <a:off x="5394960" y="31089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Interbus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7040880" y="3017520"/>
            <a:ext cx="1463040" cy="457200"/>
          </a:xfrm>
          <a:prstGeom prst="roundRect">
            <a:avLst/>
          </a:prstGeom>
          <a:solidFill>
            <a:srgbClr val="EEEEEE"/>
          </a:solidFill>
          <a:ln/>
        </p:spPr>
      </p:sp>
      <p:sp>
        <p:nvSpPr>
          <p:cNvPr id="50" name="Text 48"/>
          <p:cNvSpPr/>
          <p:nvPr/>
        </p:nvSpPr>
        <p:spPr>
          <a:xfrm>
            <a:off x="7040880" y="31089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Sercos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8686800" y="3017520"/>
            <a:ext cx="1463040" cy="457200"/>
          </a:xfrm>
          <a:prstGeom prst="roundRect">
            <a:avLst/>
          </a:prstGeom>
          <a:solidFill>
            <a:srgbClr val="DDDDDD"/>
          </a:solidFill>
          <a:ln/>
        </p:spPr>
      </p:sp>
      <p:sp>
        <p:nvSpPr>
          <p:cNvPr id="52" name="Text 50"/>
          <p:cNvSpPr/>
          <p:nvPr/>
        </p:nvSpPr>
        <p:spPr>
          <a:xfrm>
            <a:off x="8686800" y="31089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EtherNet/IP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10332720" y="3017520"/>
            <a:ext cx="1463040" cy="457200"/>
          </a:xfrm>
          <a:prstGeom prst="roundRect">
            <a:avLst/>
          </a:prstGeom>
          <a:solidFill>
            <a:srgbClr val="EEEEEE"/>
          </a:solidFill>
          <a:ln/>
        </p:spPr>
      </p:sp>
      <p:sp>
        <p:nvSpPr>
          <p:cNvPr id="54" name="Text 52"/>
          <p:cNvSpPr/>
          <p:nvPr/>
        </p:nvSpPr>
        <p:spPr>
          <a:xfrm>
            <a:off x="10332720" y="31089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Modbus TCP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457200" y="3611880"/>
            <a:ext cx="1463040" cy="457200"/>
          </a:xfrm>
          <a:prstGeom prst="roundRect">
            <a:avLst/>
          </a:prstGeom>
          <a:solidFill>
            <a:srgbClr val="DDDDDD"/>
          </a:solidFill>
          <a:ln/>
        </p:spPr>
      </p:sp>
      <p:sp>
        <p:nvSpPr>
          <p:cNvPr id="56" name="Text 54"/>
          <p:cNvSpPr/>
          <p:nvPr/>
        </p:nvSpPr>
        <p:spPr>
          <a:xfrm>
            <a:off x="457200" y="37033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Modbus RTU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2103120" y="3611880"/>
            <a:ext cx="1463040" cy="457200"/>
          </a:xfrm>
          <a:prstGeom prst="roundRect">
            <a:avLst/>
          </a:prstGeom>
          <a:solidFill>
            <a:srgbClr val="EEEEEE"/>
          </a:solidFill>
          <a:ln/>
        </p:spPr>
      </p:sp>
      <p:sp>
        <p:nvSpPr>
          <p:cNvPr id="58" name="Text 56"/>
          <p:cNvSpPr/>
          <p:nvPr/>
        </p:nvSpPr>
        <p:spPr>
          <a:xfrm>
            <a:off x="2103120" y="37033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S7Comm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3749040" y="3611880"/>
            <a:ext cx="1463040" cy="457200"/>
          </a:xfrm>
          <a:prstGeom prst="roundRect">
            <a:avLst/>
          </a:prstGeom>
          <a:solidFill>
            <a:srgbClr val="DDDDDD"/>
          </a:solidFill>
          <a:ln/>
        </p:spPr>
      </p:sp>
      <p:sp>
        <p:nvSpPr>
          <p:cNvPr id="60" name="Text 58"/>
          <p:cNvSpPr/>
          <p:nvPr/>
        </p:nvSpPr>
        <p:spPr>
          <a:xfrm>
            <a:off x="3749040" y="37033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MQTT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5394960" y="3611880"/>
            <a:ext cx="1463040" cy="457200"/>
          </a:xfrm>
          <a:prstGeom prst="roundRect">
            <a:avLst/>
          </a:prstGeom>
          <a:solidFill>
            <a:srgbClr val="EEEEEE"/>
          </a:solidFill>
          <a:ln/>
        </p:spPr>
      </p:sp>
      <p:sp>
        <p:nvSpPr>
          <p:cNvPr id="62" name="Text 60"/>
          <p:cNvSpPr/>
          <p:nvPr/>
        </p:nvSpPr>
        <p:spPr>
          <a:xfrm>
            <a:off x="5394960" y="37033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7040880" y="3611880"/>
            <a:ext cx="1463040" cy="457200"/>
          </a:xfrm>
          <a:prstGeom prst="roundRect">
            <a:avLst/>
          </a:prstGeom>
          <a:solidFill>
            <a:srgbClr val="DDDDDD"/>
          </a:solidFill>
          <a:ln/>
        </p:spPr>
      </p:sp>
      <p:sp>
        <p:nvSpPr>
          <p:cNvPr id="64" name="Text 62"/>
          <p:cNvSpPr/>
          <p:nvPr/>
        </p:nvSpPr>
        <p:spPr>
          <a:xfrm>
            <a:off x="7040880" y="37033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CoAP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8686800" y="3611880"/>
            <a:ext cx="1463040" cy="457200"/>
          </a:xfrm>
          <a:prstGeom prst="roundRect">
            <a:avLst/>
          </a:prstGeom>
          <a:solidFill>
            <a:srgbClr val="EEEEEE"/>
          </a:solidFill>
          <a:ln/>
        </p:spPr>
      </p:sp>
      <p:sp>
        <p:nvSpPr>
          <p:cNvPr id="66" name="Text 64"/>
          <p:cNvSpPr/>
          <p:nvPr/>
        </p:nvSpPr>
        <p:spPr>
          <a:xfrm>
            <a:off x="8686800" y="37033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SNMP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10332720" y="3611880"/>
            <a:ext cx="1463040" cy="457200"/>
          </a:xfrm>
          <a:prstGeom prst="roundRect">
            <a:avLst/>
          </a:prstGeom>
          <a:solidFill>
            <a:srgbClr val="DDDDDD"/>
          </a:solidFill>
          <a:ln/>
        </p:spPr>
      </p:sp>
      <p:sp>
        <p:nvSpPr>
          <p:cNvPr id="68" name="Text 66"/>
          <p:cNvSpPr/>
          <p:nvPr/>
        </p:nvSpPr>
        <p:spPr>
          <a:xfrm>
            <a:off x="10332720" y="37033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Syslog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457200" y="3931920"/>
            <a:ext cx="2011680" cy="914400"/>
          </a:xfrm>
          <a:prstGeom prst="roundRect">
            <a:avLst/>
          </a:prstGeom>
          <a:solidFill>
            <a:srgbClr val="0070C0"/>
          </a:solidFill>
          <a:ln/>
        </p:spPr>
      </p:sp>
      <p:sp>
        <p:nvSpPr>
          <p:cNvPr id="70" name="Text 68"/>
          <p:cNvSpPr/>
          <p:nvPr/>
        </p:nvSpPr>
        <p:spPr>
          <a:xfrm>
            <a:off x="457200" y="40233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电力行业</a:t>
            </a:r>
            <a:endParaRPr lang="en-US" sz="1200" dirty="0"/>
          </a:p>
        </p:txBody>
      </p:sp>
      <p:sp>
        <p:nvSpPr>
          <p:cNvPr id="71" name="Text 69"/>
          <p:cNvSpPr/>
          <p:nvPr/>
        </p:nvSpPr>
        <p:spPr>
          <a:xfrm>
            <a:off x="457200" y="43891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GOOSE, SV, IEC104, DNP3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2743200" y="3931920"/>
            <a:ext cx="2011680" cy="914400"/>
          </a:xfrm>
          <a:prstGeom prst="roundRect">
            <a:avLst/>
          </a:prstGeom>
          <a:solidFill>
            <a:srgbClr val="FF6600"/>
          </a:solidFill>
          <a:ln/>
        </p:spPr>
      </p:sp>
      <p:sp>
        <p:nvSpPr>
          <p:cNvPr id="73" name="Text 71"/>
          <p:cNvSpPr/>
          <p:nvPr/>
        </p:nvSpPr>
        <p:spPr>
          <a:xfrm>
            <a:off x="2743200" y="40233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石油化工</a:t>
            </a:r>
            <a:endParaRPr lang="en-US" sz="1200" dirty="0"/>
          </a:p>
        </p:txBody>
      </p:sp>
      <p:sp>
        <p:nvSpPr>
          <p:cNvPr id="74" name="Text 72"/>
          <p:cNvSpPr/>
          <p:nvPr/>
        </p:nvSpPr>
        <p:spPr>
          <a:xfrm>
            <a:off x="2743200" y="43891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Modbus, HART, Profibus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5029200" y="3931920"/>
            <a:ext cx="2011680" cy="914400"/>
          </a:xfrm>
          <a:prstGeom prst="roundRect">
            <a:avLst/>
          </a:prstGeom>
          <a:solidFill>
            <a:srgbClr val="7030A0"/>
          </a:solidFill>
          <a:ln/>
        </p:spPr>
      </p:sp>
      <p:sp>
        <p:nvSpPr>
          <p:cNvPr id="76" name="Text 74"/>
          <p:cNvSpPr/>
          <p:nvPr/>
        </p:nvSpPr>
        <p:spPr>
          <a:xfrm>
            <a:off x="5029200" y="40233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交通轨道</a:t>
            </a:r>
            <a:endParaRPr lang="en-US" sz="1200" dirty="0"/>
          </a:p>
        </p:txBody>
      </p:sp>
      <p:sp>
        <p:nvSpPr>
          <p:cNvPr id="77" name="Text 75"/>
          <p:cNvSpPr/>
          <p:nvPr/>
        </p:nvSpPr>
        <p:spPr>
          <a:xfrm>
            <a:off x="5029200" y="43891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CANopen, LonWorks, KNX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7315200" y="3931920"/>
            <a:ext cx="2011680" cy="914400"/>
          </a:xfrm>
          <a:prstGeom prst="roundRect">
            <a:avLst/>
          </a:prstGeom>
          <a:solidFill>
            <a:srgbClr val="008080"/>
          </a:solidFill>
          <a:ln/>
        </p:spPr>
      </p:sp>
      <p:sp>
        <p:nvSpPr>
          <p:cNvPr id="79" name="Text 77"/>
          <p:cNvSpPr/>
          <p:nvPr/>
        </p:nvSpPr>
        <p:spPr>
          <a:xfrm>
            <a:off x="7315200" y="40233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智能制造</a:t>
            </a:r>
            <a:endParaRPr lang="en-US" sz="1200" dirty="0"/>
          </a:p>
        </p:txBody>
      </p:sp>
      <p:sp>
        <p:nvSpPr>
          <p:cNvPr id="80" name="Text 78"/>
          <p:cNvSpPr/>
          <p:nvPr/>
        </p:nvSpPr>
        <p:spPr>
          <a:xfrm>
            <a:off x="7315200" y="43891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PROFINET, EtherCAT, OPC UA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70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多组并发，互不干扰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支持多组独立测试环境，资源隔离，不会冲突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560320" cy="1371600"/>
          </a:xfrm>
          <a:prstGeom prst="roundRect">
            <a:avLst/>
          </a:prstGeom>
          <a:solidFill>
            <a:srgbClr val="0070C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459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测试组 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防火墙A + AgentA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474720" y="1463040"/>
            <a:ext cx="2560320" cy="1371600"/>
          </a:xfrm>
          <a:prstGeom prst="roundRect">
            <a:avLst/>
          </a:prstGeom>
          <a:solidFill>
            <a:srgbClr val="00B050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0" y="16459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测试组 B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657600" y="21031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防火墙B + AgentB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0" y="24688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492240" y="1463040"/>
            <a:ext cx="2560320" cy="1371600"/>
          </a:xfrm>
          <a:prstGeom prst="roundRect">
            <a:avLst/>
          </a:prstGeom>
          <a:solidFill>
            <a:srgbClr val="FF6600"/>
          </a:solidFill>
          <a:ln/>
        </p:spPr>
      </p:sp>
      <p:sp>
        <p:nvSpPr>
          <p:cNvPr id="13" name="Text 11"/>
          <p:cNvSpPr/>
          <p:nvPr/>
        </p:nvSpPr>
        <p:spPr>
          <a:xfrm>
            <a:off x="6675120" y="16459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测试组 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675120" y="21031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防火墙C + AgentC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675120" y="24688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57200" y="3017520"/>
            <a:ext cx="8229600" cy="548640"/>
          </a:xfrm>
          <a:prstGeom prst="roundRect">
            <a:avLst/>
          </a:prstGeom>
          <a:solidFill>
            <a:srgbClr val="EEEEEE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063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🌐 统一管理平台 (Web界面)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3749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0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对比优势</a:t>
            </a:r>
            <a:endParaRPr lang="en-US" sz="1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11480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特性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单组测试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多组并发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B050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资源利用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低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B0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 (3倍)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等待时间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长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B0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短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团队协作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难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B0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易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70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实际应用案例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案例: 某防火墙功能验证测试</a:t>
            </a:r>
            <a:endParaRPr lang="en-US" sz="1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371600"/>
          <a:ext cx="54864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206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单位: 小时 | 人 | 个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6217920" y="1371600"/>
            <a:ext cx="2468880" cy="3200400"/>
          </a:xfrm>
          <a:prstGeom prst="roundRect">
            <a:avLst/>
          </a:prstGeom>
          <a:solidFill>
            <a:srgbClr val="FF6600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0" y="14630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关键发现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400800" y="1920240"/>
            <a:ext cx="22860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测试时间减少25%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问题发现率提升25%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测试流程标准化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结果可追溯可复盘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团队协作效率提升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70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用户怎么说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1645920"/>
          </a:xfrm>
          <a:prstGeom prst="roundRect">
            <a:avLst/>
          </a:prstGeom>
          <a:solidFill>
            <a:srgbClr val="0070C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887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测试工程师 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"以前测试要跑好几个工具，现在一个界面全搞定，太方便了！"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★★★★★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3931920" cy="1645920"/>
          </a:xfrm>
          <a:prstGeom prst="roundRect">
            <a:avLst/>
          </a:prstGeom>
          <a:solidFill>
            <a:srgbClr val="00B050"/>
          </a:solidFill>
          <a:ln/>
        </p:spPr>
      </p:sp>
      <p:sp>
        <p:nvSpPr>
          <p:cNvPr id="8" name="Text 6"/>
          <p:cNvSpPr/>
          <p:nvPr/>
        </p:nvSpPr>
        <p:spPr>
          <a:xfrm>
            <a:off x="4937760" y="11887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测试工程师 B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37760" y="155448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"工控协议测试以前是最头疼的，现在点点按钮就行。"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937760" y="22860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★★★★★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926080"/>
            <a:ext cx="3931920" cy="1645920"/>
          </a:xfrm>
          <a:prstGeom prst="roundRect">
            <a:avLst/>
          </a:prstGeom>
          <a:solidFill>
            <a:srgbClr val="FF6600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1089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测试组长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347472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"测试结果自动记录，再也不用担心漏记录了。"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42062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★★★★☆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754880" y="2926080"/>
            <a:ext cx="3931920" cy="1645920"/>
          </a:xfrm>
          <a:prstGeom prst="roundRect">
            <a:avLst/>
          </a:prstGeom>
          <a:solidFill>
            <a:srgbClr val="7030A0"/>
          </a:solidFill>
          <a:ln/>
        </p:spPr>
      </p:sp>
      <p:sp>
        <p:nvSpPr>
          <p:cNvPr id="16" name="Text 14"/>
          <p:cNvSpPr/>
          <p:nvPr/>
        </p:nvSpPr>
        <p:spPr>
          <a:xfrm>
            <a:off x="4937760" y="31089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项目经理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937760" y="347472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"团队测试效率提升明显，值得推广使用。"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37760" y="42062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★★★★★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70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简单明了的架构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914400"/>
          </a:xfrm>
          <a:prstGeom prst="roundRect">
            <a:avLst/>
          </a:prstGeom>
          <a:solidFill>
            <a:srgbClr val="0070C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887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操作者层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测试工程师通过浏览器访问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560320" y="132588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Chrome浏览器 | Web界面操作 | 无需安装客户端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8229600" cy="914400"/>
          </a:xfrm>
          <a:prstGeom prst="roundRect">
            <a:avLst/>
          </a:prstGeom>
          <a:solidFill>
            <a:srgbClr val="00B05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2860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管理平台层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560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Django Web服务器，统一调度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560320" y="242316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测试环境管理 | Agent同步部署 | 测试任务调度 | 结果汇总记录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291840"/>
            <a:ext cx="8229600" cy="914400"/>
          </a:xfrm>
          <a:prstGeom prst="roundRect">
            <a:avLst/>
          </a:prstGeom>
          <a:solidFill>
            <a:srgbClr val="FF6600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3832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测试设备层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" y="3657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Agent程序运行在测试设备上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560320" y="352044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Packet Agent (8888) | 工控协议Agent (8889) | 报文发送/端口扫描 | 协议模拟测试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14800" y="2011680"/>
            <a:ext cx="914400" cy="182880"/>
          </a:xfrm>
          <a:prstGeom prst="downArrow">
            <a:avLst/>
          </a:prstGeom>
          <a:solidFill>
            <a:srgbClr val="CCCCCC"/>
          </a:solidFill>
          <a:ln/>
        </p:spPr>
      </p:sp>
      <p:sp>
        <p:nvSpPr>
          <p:cNvPr id="16" name="Shape 14"/>
          <p:cNvSpPr/>
          <p:nvPr/>
        </p:nvSpPr>
        <p:spPr>
          <a:xfrm>
            <a:off x="4114800" y="3108960"/>
            <a:ext cx="914400" cy="182880"/>
          </a:xfrm>
          <a:prstGeom prst="downArrow">
            <a:avLst/>
          </a:prstGeom>
          <a:solidFill>
            <a:srgbClr val="CCCCCC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数据流: HTTP请求 → 任务调度 → Agent执行 → 结果返回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66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1371600" cy="1371600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457200"/>
            <a:ext cx="1371600" cy="1371600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457200" y="3657600"/>
            <a:ext cx="1371600" cy="1371600"/>
          </a:xfrm>
          <a:prstGeom prst="ellipse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772400" y="3657600"/>
            <a:ext cx="1371600" cy="1371600"/>
          </a:xfrm>
          <a:prstGeom prst="ellipse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3657600" y="73152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💻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核心操作演示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914400" y="32004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环境配置与Agent部署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报文发送与工控协议测试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DDoS压力测试完整流程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70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从部署到测试，5步搞定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整个测试流程简单明了，从配置到出报告只需5步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1645920" cy="2560320"/>
          </a:xfrm>
          <a:prstGeom prst="roundRect">
            <a:avLst/>
          </a:prstGeom>
          <a:solidFill>
            <a:srgbClr val="0070C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4630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⚙️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233172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配置环境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69748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添加测试设备信息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IP、账号、系统类型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352044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5分钟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103120" y="1371600"/>
            <a:ext cx="1645920" cy="2560320"/>
          </a:xfrm>
          <a:prstGeom prst="roundRect">
            <a:avLst/>
          </a:prstGeom>
          <a:solidFill>
            <a:srgbClr val="008080"/>
          </a:solidFill>
          <a:ln/>
        </p:spPr>
      </p:sp>
      <p:sp>
        <p:nvSpPr>
          <p:cNvPr id="11" name="Text 9"/>
          <p:cNvSpPr/>
          <p:nvPr/>
        </p:nvSpPr>
        <p:spPr>
          <a:xfrm>
            <a:off x="2194560" y="14630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194560" y="18288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📤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194560" y="233172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部署Agent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194560" y="269748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一键同步部署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自动上传启动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194560" y="352044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2分钟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840480" y="1371600"/>
            <a:ext cx="1645920" cy="2560320"/>
          </a:xfrm>
          <a:prstGeom prst="roundRect">
            <a:avLst/>
          </a:prstGeom>
          <a:solidFill>
            <a:srgbClr val="FF6600"/>
          </a:solidFill>
          <a:ln/>
        </p:spPr>
      </p:sp>
      <p:sp>
        <p:nvSpPr>
          <p:cNvPr id="17" name="Text 15"/>
          <p:cNvSpPr/>
          <p:nvPr/>
        </p:nvSpPr>
        <p:spPr>
          <a:xfrm>
            <a:off x="3931920" y="14630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931920" y="18288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▶️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3931920" y="233172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执行测试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931920" y="269748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选择测试类型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配置参数运行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931920" y="352044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按需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577840" y="1371600"/>
            <a:ext cx="1645920" cy="2560320"/>
          </a:xfrm>
          <a:prstGeom prst="roundRect">
            <a:avLst/>
          </a:prstGeom>
          <a:solidFill>
            <a:srgbClr val="7030A0"/>
          </a:solidFill>
          <a:ln/>
        </p:spPr>
      </p:sp>
      <p:sp>
        <p:nvSpPr>
          <p:cNvPr id="23" name="Text 21"/>
          <p:cNvSpPr/>
          <p:nvPr/>
        </p:nvSpPr>
        <p:spPr>
          <a:xfrm>
            <a:off x="5669280" y="14630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669280" y="18288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✅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5669280" y="233172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验证结果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669280" y="269748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实时查看输出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日志自动记录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669280" y="352044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315200" y="1371600"/>
            <a:ext cx="1645920" cy="2560320"/>
          </a:xfrm>
          <a:prstGeom prst="roundRect">
            <a:avLst/>
          </a:prstGeom>
          <a:solidFill>
            <a:srgbClr val="00B050"/>
          </a:solidFill>
          <a:ln/>
        </p:spPr>
      </p:sp>
      <p:sp>
        <p:nvSpPr>
          <p:cNvPr id="29" name="Text 27"/>
          <p:cNvSpPr/>
          <p:nvPr/>
        </p:nvSpPr>
        <p:spPr>
          <a:xfrm>
            <a:off x="7406640" y="14630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7406640" y="18288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7406640" y="233172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生成报告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406640" y="269748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自动汇总结果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导出测试报告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406640" y="352044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57200" y="4114800"/>
            <a:ext cx="8229600" cy="731520"/>
          </a:xfrm>
          <a:prstGeom prst="roundRect">
            <a:avLst/>
          </a:prstGeom>
          <a:solidFill>
            <a:srgbClr val="0070C0"/>
          </a:solidFill>
          <a:ln/>
        </p:spPr>
      </p:sp>
      <p:sp>
        <p:nvSpPr>
          <p:cNvPr id="35" name="Text 33"/>
          <p:cNvSpPr/>
          <p:nvPr/>
        </p:nvSpPr>
        <p:spPr>
          <a:xfrm>
            <a:off x="640080" y="42062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首次配置后，后续测试只需步骤3-4，整个过程更快捷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70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步骤1: 配置测试环境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5029200" cy="2926080"/>
          </a:xfrm>
          <a:prstGeom prst="roundRect">
            <a:avLst/>
          </a:prstGeom>
          <a:solidFill>
            <a:srgbClr val="EEEEEE"/>
          </a:solidFill>
          <a:ln w="25400">
            <a:solidFill>
              <a:srgbClr val="CCCCCC"/>
            </a:solidFill>
            <a:prstDash val="dash"/>
          </a:ln>
        </p:spPr>
      </p:sp>
      <p:sp>
        <p:nvSpPr>
          <p:cNvPr id="4" name="Text 2"/>
          <p:cNvSpPr/>
          <p:nvPr/>
        </p:nvSpPr>
        <p:spPr>
          <a:xfrm>
            <a:off x="457200" y="20116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📸 测试环境列表页面截图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669280" y="9144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70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配置要点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669280" y="13716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📝 设备名称: 自定义标识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669280" y="17830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🌐 IP地址: 测试设备IP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669280" y="21945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👤 SSH账号: 登录凭证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669280" y="26060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💻 系统类型: Windows/Linux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669280" y="30175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📝 备注: 可选描述信息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669280" y="3474720"/>
            <a:ext cx="3017520" cy="731520"/>
          </a:xfrm>
          <a:prstGeom prst="roundRect">
            <a:avLst/>
          </a:prstGeom>
          <a:solidFill>
            <a:srgbClr val="00B050"/>
          </a:solidFill>
          <a:ln/>
        </p:spPr>
      </p:sp>
      <p:sp>
        <p:nvSpPr>
          <p:cNvPr id="12" name="Text 10"/>
          <p:cNvSpPr/>
          <p:nvPr/>
        </p:nvSpPr>
        <p:spPr>
          <a:xfrm>
            <a:off x="5852160" y="356616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首次配置后，后续无需重复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📌 配置完成后，可在列表中查看所有测试环境，支持编辑、删除操作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70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步骤2: 一键部署Agent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5029200" cy="2926080"/>
          </a:xfrm>
          <a:prstGeom prst="roundRect">
            <a:avLst/>
          </a:prstGeom>
          <a:solidFill>
            <a:srgbClr val="EEEEEE"/>
          </a:solidFill>
          <a:ln w="25400">
            <a:solidFill>
              <a:srgbClr val="CCCCCC"/>
            </a:solidFill>
            <a:prstDash val="dash"/>
          </a:ln>
        </p:spPr>
      </p:sp>
      <p:sp>
        <p:nvSpPr>
          <p:cNvPr id="4" name="Text 2"/>
          <p:cNvSpPr/>
          <p:nvPr/>
        </p:nvSpPr>
        <p:spPr>
          <a:xfrm>
            <a:off x="457200" y="20116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📸 Agent同步页面截图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669280" y="9144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70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部署步骤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669280" y="1371600"/>
            <a:ext cx="320040" cy="320040"/>
          </a:xfrm>
          <a:prstGeom prst="roundRect">
            <a:avLst/>
          </a:prstGeom>
          <a:solidFill>
            <a:srgbClr val="FF6600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0" y="13716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080760" y="137160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选择目标测试环境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69280" y="1874520"/>
            <a:ext cx="320040" cy="320040"/>
          </a:xfrm>
          <a:prstGeom prst="roundRect">
            <a:avLst/>
          </a:prstGeom>
          <a:solidFill>
            <a:srgbClr val="FF6600"/>
          </a:solidFill>
          <a:ln/>
        </p:spPr>
      </p:sp>
      <p:sp>
        <p:nvSpPr>
          <p:cNvPr id="10" name="Text 8"/>
          <p:cNvSpPr/>
          <p:nvPr/>
        </p:nvSpPr>
        <p:spPr>
          <a:xfrm>
            <a:off x="5669280" y="18745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80760" y="187452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点击"同步Agent"按钮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0" y="2377440"/>
            <a:ext cx="320040" cy="320040"/>
          </a:xfrm>
          <a:prstGeom prst="roundRect">
            <a:avLst/>
          </a:prstGeom>
          <a:solidFill>
            <a:srgbClr val="FF6600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0" y="2377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080760" y="237744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等待文件上传完成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0" y="2880360"/>
            <a:ext cx="320040" cy="320040"/>
          </a:xfrm>
          <a:prstGeom prst="roundRect">
            <a:avLst/>
          </a:prstGeom>
          <a:solidFill>
            <a:srgbClr val="FF6600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0" y="2880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080760" y="288036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点击"启动Agent"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669280" y="3383280"/>
            <a:ext cx="320040" cy="320040"/>
          </a:xfrm>
          <a:prstGeom prst="roundRect">
            <a:avLst/>
          </a:prstGeom>
          <a:solidFill>
            <a:srgbClr val="FF6600"/>
          </a:solidFill>
          <a:ln/>
        </p:spPr>
      </p:sp>
      <p:sp>
        <p:nvSpPr>
          <p:cNvPr id="19" name="Text 17"/>
          <p:cNvSpPr/>
          <p:nvPr/>
        </p:nvSpPr>
        <p:spPr>
          <a:xfrm>
            <a:off x="5669280" y="33832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080760" y="338328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确认状态变为"运行中"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669280" y="3931920"/>
            <a:ext cx="3017520" cy="640080"/>
          </a:xfrm>
          <a:prstGeom prst="roundRect">
            <a:avLst/>
          </a:prstGeom>
          <a:solidFill>
            <a:srgbClr val="0070C0"/>
          </a:solidFill>
          <a:ln/>
        </p:spPr>
      </p:sp>
      <p:sp>
        <p:nvSpPr>
          <p:cNvPr id="22" name="Text 20"/>
          <p:cNvSpPr/>
          <p:nvPr/>
        </p:nvSpPr>
        <p:spPr>
          <a:xfrm>
            <a:off x="5852160" y="39776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Packet Agent: 8888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工控协议Agent: 8889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📌 Agent程序自动上传并启动，无需手动操作远程服务器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70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步骤3: 发送测试报文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5029200" cy="2926080"/>
          </a:xfrm>
          <a:prstGeom prst="roundRect">
            <a:avLst/>
          </a:prstGeom>
          <a:solidFill>
            <a:srgbClr val="EEEEEE"/>
          </a:solidFill>
          <a:ln w="25400">
            <a:solidFill>
              <a:srgbClr val="CCCCCC"/>
            </a:solidFill>
            <a:prstDash val="dash"/>
          </a:ln>
        </p:spPr>
      </p:sp>
      <p:sp>
        <p:nvSpPr>
          <p:cNvPr id="4" name="Text 2"/>
          <p:cNvSpPr/>
          <p:nvPr/>
        </p:nvSpPr>
        <p:spPr>
          <a:xfrm>
            <a:off x="457200" y="20116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📸 报文发送配置界面截图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669280" y="9144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70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配置参数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669280" y="13258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选择Agent: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766560" y="13258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选择运行的测试设备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669280" y="17373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协议类型: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766560" y="17373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TCP/UDP/HTTP/ICMP等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669280" y="21488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目标地址: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766560" y="21488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防火墙接口IP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669280" y="25603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端口: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766560" y="25603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目标端口号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669280" y="29718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发送次数: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766560" y="29718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单次或连续发送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669280" y="3474720"/>
            <a:ext cx="3017520" cy="914400"/>
          </a:xfrm>
          <a:prstGeom prst="roundRect">
            <a:avLst/>
          </a:prstGeom>
          <a:solidFill>
            <a:srgbClr val="008080"/>
          </a:solidFill>
          <a:ln/>
        </p:spPr>
      </p:sp>
      <p:sp>
        <p:nvSpPr>
          <p:cNvPr id="17" name="Text 15"/>
          <p:cNvSpPr/>
          <p:nvPr/>
        </p:nvSpPr>
        <p:spPr>
          <a:xfrm>
            <a:off x="5852160" y="35204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支持的报文类型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852160" y="38404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TCP | UDP | HTTP | ICMP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Modbus | DNP3 | 自定义报文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0" y="3931920"/>
            <a:ext cx="1828800" cy="640080"/>
          </a:xfrm>
          <a:prstGeom prst="roundRect">
            <a:avLst/>
          </a:prstGeom>
          <a:solidFill>
            <a:srgbClr val="00B050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0" y="39776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实时统计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已发送: 1000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70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工控协议测试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931920" cy="2926080"/>
          </a:xfrm>
          <a:prstGeom prst="roundRect">
            <a:avLst/>
          </a:prstGeom>
          <a:solidFill>
            <a:srgbClr val="EEEEEE"/>
          </a:solidFill>
          <a:ln w="25400">
            <a:solidFill>
              <a:srgbClr val="CCCCCC"/>
            </a:solidFill>
            <a:prstDash val="dash"/>
          </a:ln>
        </p:spPr>
      </p:sp>
      <p:sp>
        <p:nvSpPr>
          <p:cNvPr id="4" name="Text 2"/>
          <p:cNvSpPr/>
          <p:nvPr/>
        </p:nvSpPr>
        <p:spPr>
          <a:xfrm>
            <a:off x="457200" y="20116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📸 Modbus客户端配置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754880" y="914400"/>
            <a:ext cx="3931920" cy="2926080"/>
          </a:xfrm>
          <a:prstGeom prst="roundRect">
            <a:avLst/>
          </a:prstGeom>
          <a:solidFill>
            <a:srgbClr val="EEEEEE"/>
          </a:solidFill>
          <a:ln w="25400">
            <a:solidFill>
              <a:srgbClr val="CCCCCC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4754880" y="20116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📸 Modbus服务器状态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0233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0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支持功能码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38912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读线圈(01) | 读输入(02) | 读保持寄存器(03)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写单线圈(05) | 写单寄存器(06) | 报告ID(17)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754880" y="40233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0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其他协议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54880" y="438912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S7 | GOOSE | SV | IEC104 | DNP3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BACnet | OPC UA | EtherNet/IP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70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完整案例: DDoS压力测试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1188720"/>
          </a:xfrm>
          <a:prstGeom prst="round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dash"/>
          </a:ln>
        </p:spPr>
      </p:sp>
      <p:sp>
        <p:nvSpPr>
          <p:cNvPr id="4" name="Text 2"/>
          <p:cNvSpPr/>
          <p:nvPr/>
        </p:nvSpPr>
        <p:spPr>
          <a:xfrm>
            <a:off x="457200" y="14630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📸 1. 配置攻击参数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2240280"/>
            <a:ext cx="3931920" cy="320040"/>
          </a:xfrm>
          <a:prstGeom prst="roundRect">
            <a:avLst/>
          </a:prstGeom>
          <a:solidFill>
            <a:srgbClr val="0070C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2402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⚙️ 1. 配置攻击参数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3931920" cy="1188720"/>
          </a:xfrm>
          <a:prstGeom prst="round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4754880" y="14630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📸 2. 点击开始发送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2240280"/>
            <a:ext cx="3931920" cy="320040"/>
          </a:xfrm>
          <a:prstGeom prst="roundRect">
            <a:avLst/>
          </a:prstGeom>
          <a:solidFill>
            <a:srgbClr val="008080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22402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▶️ 2. 点击开始发送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834640"/>
            <a:ext cx="3931920" cy="1188720"/>
          </a:xfrm>
          <a:prstGeom prst="round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457200" y="32918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📸 3. 查看发送统计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4069080"/>
            <a:ext cx="3931920" cy="320040"/>
          </a:xfrm>
          <a:prstGeom prst="roundRect">
            <a:avLst/>
          </a:prstGeom>
          <a:solidFill>
            <a:srgbClr val="FF6600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40690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📊 3. 查看发送统计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2834640"/>
            <a:ext cx="3931920" cy="1188720"/>
          </a:xfrm>
          <a:prstGeom prst="round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4754880" y="32918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📸 4. 查看防火墙日志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54880" y="4069080"/>
            <a:ext cx="3931920" cy="320040"/>
          </a:xfrm>
          <a:prstGeom prst="roundRect">
            <a:avLst/>
          </a:prstGeom>
          <a:solidFill>
            <a:srgbClr val="7030A0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0" y="40690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📝 4. 查看防火墙日志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114800"/>
            <a:ext cx="8229600" cy="640080"/>
          </a:xfrm>
          <a:prstGeom prst="roundRect">
            <a:avLst/>
          </a:prstGeom>
          <a:solidFill>
            <a:srgbClr val="FF6600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2062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 安全提示: DDoS测试功能仅限授权测试环境使用，禁止用于非法用途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70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步骤4-5: 验证与查看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5029200" cy="2926080"/>
          </a:xfrm>
          <a:prstGeom prst="roundRect">
            <a:avLst/>
          </a:prstGeom>
          <a:solidFill>
            <a:srgbClr val="EEEEEE"/>
          </a:solidFill>
          <a:ln w="25400">
            <a:solidFill>
              <a:srgbClr val="CCCCCC"/>
            </a:solidFill>
            <a:prstDash val="dash"/>
          </a:ln>
        </p:spPr>
      </p:sp>
      <p:sp>
        <p:nvSpPr>
          <p:cNvPr id="4" name="Text 2"/>
          <p:cNvSpPr/>
          <p:nvPr/>
        </p:nvSpPr>
        <p:spPr>
          <a:xfrm>
            <a:off x="457200" y="20116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📸 Syslog日志接收页面截图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669280" y="9144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70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日志功能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669280" y="13716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📥 自动接收Syslog日志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69280" y="17830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🔍 关键词搜索过滤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69280" y="21945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📅 时间范围筛选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69280" y="26060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🏷️ 日志级别分类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669280" y="30175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📤 导出日志文件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0" y="3474720"/>
            <a:ext cx="3017520" cy="731520"/>
          </a:xfrm>
          <a:prstGeom prst="roundRect">
            <a:avLst/>
          </a:prstGeom>
          <a:solidFill>
            <a:srgbClr val="00B050"/>
          </a:solidFill>
          <a:ln/>
        </p:spPr>
      </p:sp>
      <p:sp>
        <p:nvSpPr>
          <p:cNvPr id="12" name="Text 10"/>
          <p:cNvSpPr/>
          <p:nvPr/>
        </p:nvSpPr>
        <p:spPr>
          <a:xfrm>
            <a:off x="5852160" y="35204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所有测试过程自动记录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可追溯、可复盘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📌 通过日志验证防火墙是否正确响应测试报文，支持多设备日志集中查看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7030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1371600" cy="1371600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457200"/>
            <a:ext cx="1371600" cy="1371600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457200" y="3657600"/>
            <a:ext cx="1371600" cy="1371600"/>
          </a:xfrm>
          <a:prstGeom prst="ellipse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772400" y="3657600"/>
            <a:ext cx="1371600" cy="1371600"/>
          </a:xfrm>
          <a:prstGeom prst="ellipse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3657600" y="73152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🚀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快速上手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了解使用门槛 → 开始第一次测试 → 获取技术支持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70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使用门槛很低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无需安装客户端，打开浏览器即可使用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920240" cy="2286000"/>
          </a:xfrm>
          <a:prstGeom prst="roundRect">
            <a:avLst/>
          </a:prstGeom>
          <a:solidFill>
            <a:srgbClr val="0070C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087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🌐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20116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浏览器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23774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Chrome浏览器（推荐）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83464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兼容性最佳，建议使用最新版本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06040" y="1371600"/>
            <a:ext cx="1920240" cy="2286000"/>
          </a:xfrm>
          <a:prstGeom prst="roundRect">
            <a:avLst/>
          </a:prstGeom>
          <a:solidFill>
            <a:srgbClr val="00B050"/>
          </a:solidFill>
          <a:ln/>
        </p:spPr>
      </p:sp>
      <p:sp>
        <p:nvSpPr>
          <p:cNvPr id="10" name="Text 8"/>
          <p:cNvSpPr/>
          <p:nvPr/>
        </p:nvSpPr>
        <p:spPr>
          <a:xfrm>
            <a:off x="2697480" y="15087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🔐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2697480" y="20116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权限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697480" y="23774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测试设备SSH账号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697480" y="283464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用于Agent部署和管理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54880" y="1371600"/>
            <a:ext cx="1920240" cy="2286000"/>
          </a:xfrm>
          <a:prstGeom prst="roundRect">
            <a:avLst/>
          </a:prstGeom>
          <a:solidFill>
            <a:srgbClr val="FF6600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15087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💻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4846320" y="20116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测试设备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846320" y="23774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Windows 7+ 或 Linux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46320" y="283464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Agent运行环境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903720" y="1371600"/>
            <a:ext cx="1920240" cy="2286000"/>
          </a:xfrm>
          <a:prstGeom prst="roundRect">
            <a:avLst/>
          </a:prstGeom>
          <a:solidFill>
            <a:srgbClr val="7030A0"/>
          </a:solidFill>
          <a:ln/>
        </p:spPr>
      </p:sp>
      <p:sp>
        <p:nvSpPr>
          <p:cNvPr id="20" name="Text 18"/>
          <p:cNvSpPr/>
          <p:nvPr/>
        </p:nvSpPr>
        <p:spPr>
          <a:xfrm>
            <a:off x="6995160" y="15087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⏱️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6995160" y="20116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学习成本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995160" y="23774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约30分钟熟悉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995160" y="283464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操作简单，界面直观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931920"/>
            <a:ext cx="8229600" cy="731520"/>
          </a:xfrm>
          <a:prstGeom prst="roundRect">
            <a:avLst/>
          </a:prstGeom>
          <a:solidFill>
            <a:srgbClr val="00B050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39776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无需安装客户端，打开浏览器即可使用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界面简洁直观，新用户30分钟上手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70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开始你的第一次测试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931920" cy="1097280"/>
          </a:xfrm>
          <a:prstGeom prst="roundRect">
            <a:avLst/>
          </a:prstGeom>
          <a:solidFill>
            <a:srgbClr val="0070C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97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188720" y="10972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获取系统访问账号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联系管理员获取登录账号和密码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联系管理员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914400"/>
            <a:ext cx="3931920" cy="1097280"/>
          </a:xfrm>
          <a:prstGeom prst="roundRect">
            <a:avLst/>
          </a:prstGeom>
          <a:solidFill>
            <a:srgbClr val="00B050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1097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486400" y="10972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完成首次环境配置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15087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添加测试设备信息，配置SSH连接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37760" y="178308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参考操作手册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286000"/>
            <a:ext cx="3931920" cy="1097280"/>
          </a:xfrm>
          <a:prstGeom prst="roundRect">
            <a:avLst/>
          </a:prstGeom>
          <a:solidFill>
            <a:srgbClr val="FF6600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468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188720" y="24688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尝试第一个测试任务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28803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建议从报文发送功能开始体验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315468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建议: 报文发送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0" y="2286000"/>
            <a:ext cx="3931920" cy="1097280"/>
          </a:xfrm>
          <a:prstGeom prst="roundRect">
            <a:avLst/>
          </a:prstGeom>
          <a:solidFill>
            <a:srgbClr val="7030A0"/>
          </a:solidFill>
          <a:ln/>
        </p:spPr>
      </p:sp>
      <p:sp>
        <p:nvSpPr>
          <p:cNvPr id="19" name="Text 17"/>
          <p:cNvSpPr/>
          <p:nvPr/>
        </p:nvSpPr>
        <p:spPr>
          <a:xfrm>
            <a:off x="4937760" y="2468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486400" y="24688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加入技术支持群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937760" y="28803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遇到问题随时提问，获取帮助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37760" y="315468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扫码加入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669280" y="3474720"/>
            <a:ext cx="1645920" cy="1645920"/>
          </a:xfrm>
          <a:prstGeom prst="round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dash"/>
          </a:ln>
        </p:spPr>
      </p:sp>
      <p:sp>
        <p:nvSpPr>
          <p:cNvPr id="24" name="Text 22"/>
          <p:cNvSpPr/>
          <p:nvPr/>
        </p:nvSpPr>
        <p:spPr>
          <a:xfrm>
            <a:off x="5669280" y="393192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📸 技术支持群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二维码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498080" y="356616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0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遇到问题？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498080" y="3931920"/>
            <a:ext cx="1188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随时在群里提问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或者联系管理员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4846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6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💪 开始你的第一次测试，体验自动化带来的效率提升！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070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1371600" cy="1371600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457200"/>
            <a:ext cx="1371600" cy="1371600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457200" y="3657600"/>
            <a:ext cx="1371600" cy="1371600"/>
          </a:xfrm>
          <a:prstGeom prst="ellipse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772400" y="3657600"/>
            <a:ext cx="1371600" cy="1371600"/>
          </a:xfrm>
          <a:prstGeom prst="ellipse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1371600"/>
            <a:ext cx="274320" cy="274320"/>
          </a:xfrm>
          <a:prstGeom prst="ellipse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828800" y="731520"/>
            <a:ext cx="274320" cy="274320"/>
          </a:xfrm>
          <a:prstGeom prst="ellipse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315200" y="1097280"/>
            <a:ext cx="274320" cy="274320"/>
          </a:xfrm>
          <a:prstGeom prst="ellipse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400800" y="548640"/>
            <a:ext cx="274320" cy="274320"/>
          </a:xfrm>
          <a:prstGeom prst="ellipse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371600" y="4114800"/>
            <a:ext cx="274320" cy="274320"/>
          </a:xfrm>
          <a:prstGeom prst="ellipse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7772400" y="3840480"/>
            <a:ext cx="274320" cy="274320"/>
          </a:xfrm>
          <a:prstGeom prst="ellipse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感谢聆听</a:t>
            </a:r>
            <a:endParaRPr lang="en-US" sz="5200" dirty="0"/>
          </a:p>
        </p:txBody>
      </p:sp>
      <p:sp>
        <p:nvSpPr>
          <p:cNvPr id="13" name="Text 11"/>
          <p:cNvSpPr/>
          <p:nvPr/>
        </p:nvSpPr>
        <p:spPr>
          <a:xfrm>
            <a:off x="457200" y="2651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如有疑问，欢迎随时提问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286000" y="3291840"/>
            <a:ext cx="4572000" cy="1097280"/>
          </a:xfrm>
          <a:prstGeom prst="roundRect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2286000" y="33832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📞 联系方式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286000" y="38404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技术支持群 | 管理员邮箱 | 操作文档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工业防火墙自动化测试平台 | 让测试变得简单高效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工业防火墙测试项目组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工业防火墙自动化测试平台培训</dc:title>
  <dc:subject>系统培训演示</dc:subject>
  <dc:creator>自动化测试团队</dc:creator>
  <cp:lastModifiedBy>自动化测试团队</cp:lastModifiedBy>
  <cp:revision>1</cp:revision>
  <dcterms:created xsi:type="dcterms:W3CDTF">2026-04-09T03:22:44Z</dcterms:created>
  <dcterms:modified xsi:type="dcterms:W3CDTF">2026-04-09T03:22:44Z</dcterms:modified>
</cp:coreProperties>
</file>